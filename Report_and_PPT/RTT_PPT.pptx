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6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50000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IN" sz="2000" b="1" dirty="0">
                <a:latin typeface="Times New Roman" panose="02020603050405020304" pitchFamily="18" charset="0"/>
              </a:rPr>
              <a:t>Project Presentation of Industry Oriented Hands on Experience (22CS422) 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IN" sz="2000" b="1" dirty="0">
                <a:latin typeface="Times New Roman" panose="02020603050405020304" pitchFamily="18" charset="0"/>
              </a:rPr>
              <a:t>on</a:t>
            </a:r>
            <a:endParaRPr lang="en-US" sz="2000" dirty="0"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n-US" sz="3000" b="1" dirty="0">
                <a:latin typeface="Times New Roman" panose="02020603050405020304" pitchFamily="18" charset="0"/>
              </a:rPr>
              <a:t>Reverse Turing Test: Identifying Humanity in an AI-Dominated Digital Ecosystem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Vansh Alawadhi (2210990933)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Arjun Sen (2210990156)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Avikam Bir (2210990198)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Dr. Shikha Tuteja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n-US" sz="1800" dirty="0">
                <a:latin typeface="Times New Roman" panose="02020603050405020304" pitchFamily="18" charset="0"/>
              </a:rPr>
              <a:t>Department of Computer Science and Engineering,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 panose="02020603050405020304" pitchFamily="18" charset="0"/>
              </a:rPr>
              <a:t>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85520" y="0"/>
            <a:ext cx="815848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82600" lvl="0" indent="-34290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Background and Motivation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– CAPTCHA Evolution and Bot Detection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of the Reverse Turing Test (RTT)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 Network Activity Patterns and Cognitive Bias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RTT Framework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and Model Design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Design and Evaluation Metrics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Ethical Considerations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Directions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75360" y="0"/>
            <a:ext cx="498184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Alan Turing (1950) asked: 'Can machines think?' – now machines produce indistinguishable text from humans.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like GPT-4, Claude, and Gemini generate fluent, contextually rich dialogue.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Blinded experiments show human raters cannot detect AI-generated text better than random guessing.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ecosystems (social media, finance, e-commerce) rely on human participation assumptions.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 defenses like CAPTCHA are routinely defeated by modern AI systems.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every step in detection is countered by improved evasion – an unsustainable arms race.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Reverse Turing Test (RTT) – test that humans reliably pass but AI cannot.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95680" y="0"/>
            <a:ext cx="496152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– CAPTCHA Evolution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Von Ahn et al. (2003) defined CAPTCHA as AI-hard tests filtering robotic processes.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CAPTCHAs exploited OCR shortcomings with distorted text – initially effective.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Goodfellow et al. (2013): CNNs solved distorted CAPTCHA text with &gt;99% accuracy.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segmentation models defeated image-based reCAPTCHA reliably.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problem: harder CAPTCHAs create barriers for users with disabilities.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 detection alternatives: cursor movement analysis, keystroke dynamics, social network graph features.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detection (perplexity, n-grams, style features) degrades as LLMs improve.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synthetic digital identities – consistent AI personas – emerging threat.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005840" y="0"/>
            <a:ext cx="49513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the Reverse Turing Test (RTT)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RTT inverts the original Turing formulation: asks whether an agent can demonstrate human-exclusive cognition.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Turing Test evaluated machine intelligence; the RTT evaluates human distinctiveness.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Theoretical basis: Embodied Cognition Theory (Lakoff, Johnson, Varela) – human thought is grounded in physical experience.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Heuristics and Biases (Kahneman and Tversky): anchoring, availability, loss aversion – cognitive signatures of humanity.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RTT is necessary: AI capabilities will converge to match human output on most metrics.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tests fail once characterized; RTT uses procedural unpredictability rooted in irreducible human traits.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design tests humans pass naturally but no AI can reliably replicate, even with advanced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75360" y="0"/>
            <a:ext cx="498184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Network Patterns &amp; Cognitive Bias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 cognitive bias is one of the most pragmatically relevant measures of human uniqueness.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Confirmation bias: humans interpret ambiguous data to confirm existing beliefs – AI models are calibrated and neutral.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bias: humans overestimate likelihood of vivid, emotionally salient events.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Humans use linguistic style markers when discussing topics they believe to be true.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problem-solving shows Gestalt phenomena: impasse, incubation, insight ('aha moment’).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Dual-process architecture (Kahneman): System 1 (fast, intuitive) vs. System 2 (deliberate, analytical).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Sarcasm, irony, and humor require simultaneously tracking literal and implied meaning – AI falls short.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Empathic reasoning: affective computing can classify sentiment, but fails at nuanced empathic inference.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005840" y="0"/>
            <a:ext cx="49513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RTT Framework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Multi-Layered Testing Model: no single challenge is sufficient for reliable human verification.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1: Embodied Knowledge Testing – tasks requiring understanding from physical-world engagement.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2: Cognitive Asymmetry Challenges – tasks where humans and machines fail differently.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3: Temporal Behavioural Analysis – timing patterns of human cognition.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Defence in depth: adversary must defeat all three layers simultaneously.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Embodied examples: physically ambiguous scenarios requiring intuitive common sense judgment.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Cognitive asymmetry examples: calibrated inconsistency tasks; creative interpretation from personal perspective.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constraints: moral reasoning generated under time pressure reveals human dual-process thinking.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95680" y="0"/>
            <a:ext cx="496152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and Model Design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principal components: Challenge Generation Engine, Response Collection Interface, Behavioural Signal Processor, Humanity Scoring Model, Policy Enforcement Layer.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 Generation Engine: dynamically builds instances from parameterized templates; specifies cognitive ability, task format, and time limits.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Collection Interface: captures cursor motion, keystroke timing, hesitation patterns – not just final answers.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Workflow: risk assessment determines authentication demand → challenge assigned → response collected → scored.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Behavioural Signal Processor integrates explicit response with feature vector for comprehensive representation.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Humanity Score compared to deployment-appropriate threshold by Policy Enforcement Layer.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design: each element can be independently updated as AI and behavioural science evolve.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85520" y="0"/>
            <a:ext cx="497168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Design and Evaluation Metrics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Discovery Rate (FDR): proportion of AI agents that successfully pass as human (lower is better).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AI systems: GPT-4+, Claude, Gemini, Llama, Mistral – tested in default and adversarial modes.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High-security environments target FDR &lt; 1%; consumer applications may tolerate up to 5%.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Friction Index (UFI): composite of time taken, task completion rate, error rate, accessibility effect.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UFI baseline calibrated against reCAPTCHA v3 for relative user experience comparison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evaluation includes transfer attacks, adversarial fine-tuning, and structured red-teaming.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team: AI experts devise best evasion strategies within defined resource constraints.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005840" y="0"/>
            <a:ext cx="49513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Cognitive Asymmetry Layer (motivated reasoning, moral judgment) shows highest human-AI separation.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Embodied Knowledge Layer: more challenging to assess objectively due to broad multimodal AI training.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Behavioural Analysis: strongest individual layer – adversary must replicate process, not just output.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reCAPTCHA v3 FDR: 15-20% against current LLM-based botnets – unsatisfactory for high-risk contexts.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RTT multi-layer system expected to maintain FDR &lt; 5% while keeping UFI comparable to reCAPTCHA v3.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advantage: RTT resilience is rooted in innate human cognitive characteristics, not puzzle difficulty.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AI improves, RTT updates behavioral anchors rather than increasing task complexity.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016000" y="0"/>
            <a:ext cx="494120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Ethical Considerations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concerns: RTT challenges may disadvantage users with distinct cognitive, cultural, or physical profiles.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Mitigation: multiple challenge variants, alternative modalities, accessibility-weighted scoring.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bias: Humanity Scoring Model trained on biased data may perform unequally across demographic groups.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Fairness: diverse training data, ongoing monitoring, and fairness criteria in model training are mandatory.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Privacy: temporal analysis layer collects cursor movements and keystroke timings – sensitive behavioral data.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designs: on-device processing, differential privacy, data minimization.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obligation: users must be clearly informed about what behavioral data is collected and why.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85520" y="0"/>
            <a:ext cx="497168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Directions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RTT: challenges that evolve dynamically as AI improves, avoiding characterization attacks.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challenges: unique to individual behavioral baselines – inherently harder to counterfeit.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Identity Integration: link RTT outcomes to Proof-of-Humanity credentials on decentralized ledgers.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protocol: zero-knowledge proofs to link RTT results to on-chain identity without linkable records.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AI-Resistant Authentication: systematic study of most resilient human-machine cognitive differences.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Neuroscience contributions: recursive self-modeling, error-prone episodic memory, neural basis of emotional decision-making.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Cross-disciplinary collaboration: cognitive science, affective computing, security engineering, ethics.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75360" y="0"/>
            <a:ext cx="498184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 CAPTCHAs are effectively defeated by modern AI; a new authentication paradigm is required.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RTT framework centers on irreducible distinctiveness of human cognition – not task difficulty.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Three-layer approach: Embodied Knowledge Verification, Cognitive Asymmetry Challenges, Temporal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FDR &lt; 5% against current AI with UFI comparable to existing systems – significant improvement.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Theoretical resilience: as AI advances, RTT anchors shift to deeper cognitive asymmetries.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to a Human-First digital economy: ensuring authentic human participation is actively guaranteed.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RTT represents a shift from 'can machines fool us?' to 'can humans prove they are human?'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34730</TotalTime>
  <Words>1442</Words>
  <Application>Microsoft Office PowerPoint</Application>
  <PresentationFormat>On-screen Show (4:3)</PresentationFormat>
  <Paragraphs>132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gurdeep singh</cp:lastModifiedBy>
  <cp:revision>2299</cp:revision>
  <dcterms:created xsi:type="dcterms:W3CDTF">2010-04-09T07:36:15Z</dcterms:created>
  <dcterms:modified xsi:type="dcterms:W3CDTF">2026-04-29T08:11:22Z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